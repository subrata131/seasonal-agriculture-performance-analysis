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DFD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45542" y="3651586"/>
            <a:ext cx="3976624" cy="743448"/>
          </a:xfrm>
        </p:spPr>
        <p:txBody>
          <a:bodyPr vert="horz" lIns="91440" tIns="45720" rIns="91440" bIns="45720" rtlCol="0" anchor="t">
            <a:normAutofit fontScale="77500" lnSpcReduction="20000"/>
          </a:bodyPr>
          <a:lstStyle/>
          <a:p>
            <a:r>
              <a:rPr lang="en-US" b="0" dirty="0">
                <a:solidFill>
                  <a:schemeClr val="tx1"/>
                </a:solidFill>
              </a:rPr>
              <a:t>Student Name:-</a:t>
            </a:r>
            <a:r>
              <a:rPr lang="en-US" dirty="0">
                <a:solidFill>
                  <a:schemeClr val="tx1"/>
                </a:solidFill>
              </a:rPr>
              <a:t>SUBRATA DAS</a:t>
            </a:r>
          </a:p>
          <a:p>
            <a:r>
              <a:rPr lang="en-US" b="0" dirty="0">
                <a:solidFill>
                  <a:schemeClr val="tx1"/>
                </a:solidFill>
              </a:rPr>
              <a:t>College Name-</a:t>
            </a:r>
            <a:r>
              <a:rPr lang="en-US" dirty="0">
                <a:solidFill>
                  <a:schemeClr val="tx1"/>
                </a:solidFill>
              </a:rPr>
              <a:t>BRAINWARE UNIVERSITY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47455"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7022028" cy="369332"/>
          </a:xfrm>
          <a:prstGeom prst="rect">
            <a:avLst/>
          </a:prstGeom>
          <a:noFill/>
        </p:spPr>
        <p:txBody>
          <a:bodyPr wrap="square" rtlCol="0">
            <a:spAutoFit/>
          </a:bodyPr>
          <a:lstStyle/>
          <a:p>
            <a:r>
              <a:rPr lang="en-US" b="1" dirty="0"/>
              <a:t>AICTE STU ID :- STU6a29897a346d41781107066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102230"/>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5DE63CDF-2690-7CFE-A5B8-111216B38617}"/>
              </a:ext>
            </a:extLst>
          </p:cNvPr>
          <p:cNvSpPr txBox="1"/>
          <p:nvPr/>
        </p:nvSpPr>
        <p:spPr>
          <a:xfrm>
            <a:off x="396815" y="2790519"/>
            <a:ext cx="8540151" cy="2585323"/>
          </a:xfrm>
          <a:prstGeom prst="rect">
            <a:avLst/>
          </a:prstGeom>
          <a:noFill/>
        </p:spPr>
        <p:txBody>
          <a:bodyPr wrap="square" rtlCol="0">
            <a:spAutoFit/>
          </a:bodyPr>
          <a:lstStyle/>
          <a:p>
            <a:r>
              <a:rPr lang="en-IN" b="1" dirty="0"/>
              <a:t>Seasonal Agriculture Performance Analysis</a:t>
            </a:r>
            <a:r>
              <a:rPr lang="en-IN" dirty="0"/>
              <a:t> is a data analysis project that studies agricultural performance across different seasons, crops, and regions. The project </a:t>
            </a:r>
            <a:r>
              <a:rPr lang="en-IN" dirty="0" err="1"/>
              <a:t>analyzes</a:t>
            </a:r>
            <a:r>
              <a:rPr lang="en-IN" dirty="0"/>
              <a:t> factors such as rainfall, temperature, soil conditions, fertilizer, pesticide usage, water consumption, yield, production, revenue, and profit. Data visualization and statistical analysis are used to identify seasonal patterns, compare agricultural performance, and understand the relationship between environmental conditions and crop outcomes. The findings can help in making better decisions related to crop planning, resource usage, and agricultural productivity.</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600" b="1" dirty="0"/>
              <a:t>Farmers – To understand seasonal crop performance and improve farming decisions. </a:t>
            </a:r>
          </a:p>
          <a:p>
            <a:pPr lvl="0"/>
            <a:r>
              <a:rPr lang="en-IN" sz="3600" b="1" dirty="0"/>
              <a:t>Agricultural Planners – To compare seasonal trends and plan agricultural activities. </a:t>
            </a:r>
          </a:p>
          <a:p>
            <a:pPr lvl="0"/>
            <a:r>
              <a:rPr lang="en-IN" sz="3600" b="1" dirty="0"/>
              <a:t>Agricultural Researchers – To study relationships between environmental factors and crop performance. </a:t>
            </a:r>
          </a:p>
          <a:p>
            <a:pPr lvl="0"/>
            <a:r>
              <a:rPr lang="en-IN" sz="3600" b="1" dirty="0"/>
              <a:t>Government &amp; Agricultural Departments – To support better agricultural planning and resource management. </a:t>
            </a:r>
          </a:p>
          <a:p>
            <a:pPr lvl="0"/>
            <a:r>
              <a:rPr lang="en-IN" sz="3600" b="1" dirty="0"/>
              <a:t>Agricultural Businesses – To understand production, market, revenue, and profit patterns.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537267" y="1389428"/>
            <a:ext cx="8580854" cy="3812300"/>
          </a:xfrm>
        </p:spPr>
        <p:txBody>
          <a:bodyPr>
            <a:normAutofit/>
          </a:bodyPr>
          <a:lstStyle/>
          <a:p>
            <a:pPr lvl="0">
              <a:lnSpc>
                <a:spcPct val="110000"/>
              </a:lnSpc>
            </a:pPr>
            <a:r>
              <a:rPr lang="en-IN" b="1" dirty="0"/>
              <a:t>Python – Main programming language </a:t>
            </a:r>
          </a:p>
          <a:p>
            <a:pPr lvl="0">
              <a:lnSpc>
                <a:spcPct val="110000"/>
              </a:lnSpc>
            </a:pPr>
            <a:r>
              <a:rPr lang="en-IN" b="1" dirty="0"/>
              <a:t>Pandas – Data cleaning and analysis </a:t>
            </a:r>
          </a:p>
          <a:p>
            <a:pPr lvl="0">
              <a:lnSpc>
                <a:spcPct val="110000"/>
              </a:lnSpc>
            </a:pPr>
            <a:r>
              <a:rPr lang="en-IN" b="1" dirty="0"/>
              <a:t>NumPy – Numerical operations </a:t>
            </a:r>
          </a:p>
          <a:p>
            <a:pPr lvl="0">
              <a:lnSpc>
                <a:spcPct val="110000"/>
              </a:lnSpc>
            </a:pPr>
            <a:r>
              <a:rPr lang="en-IN" b="1" dirty="0"/>
              <a:t>Matplotlib – Data visualization </a:t>
            </a:r>
          </a:p>
          <a:p>
            <a:pPr lvl="0">
              <a:lnSpc>
                <a:spcPct val="110000"/>
              </a:lnSpc>
            </a:pPr>
            <a:r>
              <a:rPr lang="en-IN" b="1" dirty="0"/>
              <a:t>Seaborn – Statistical graphs and visualizations </a:t>
            </a:r>
          </a:p>
          <a:p>
            <a:pPr lvl="0">
              <a:lnSpc>
                <a:spcPct val="110000"/>
              </a:lnSpc>
            </a:pPr>
            <a:r>
              <a:rPr lang="en-IN" b="1" dirty="0"/>
              <a:t>Jupyter Notebook / Google </a:t>
            </a:r>
            <a:r>
              <a:rPr lang="en-IN" b="1" dirty="0" err="1"/>
              <a:t>Colab</a:t>
            </a:r>
            <a:r>
              <a:rPr lang="en-IN" b="1" dirty="0"/>
              <a:t> – Project development and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E160D675-CF0B-5CF6-5055-FD98BB76C88E}"/>
              </a:ext>
            </a:extLst>
          </p:cNvPr>
          <p:cNvSpPr/>
          <p:nvPr/>
        </p:nvSpPr>
        <p:spPr>
          <a:xfrm>
            <a:off x="948907" y="1604514"/>
            <a:ext cx="4994694" cy="2199736"/>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51E04AA-093A-F021-D06D-DEB0F5B97D40}"/>
              </a:ext>
            </a:extLst>
          </p:cNvPr>
          <p:cNvSpPr txBox="1"/>
          <p:nvPr/>
        </p:nvSpPr>
        <p:spPr>
          <a:xfrm>
            <a:off x="948906" y="4150646"/>
            <a:ext cx="7936301" cy="1477328"/>
          </a:xfrm>
          <a:prstGeom prst="rect">
            <a:avLst/>
          </a:prstGeom>
          <a:noFill/>
        </p:spPr>
        <p:txBody>
          <a:bodyPr wrap="square" rtlCol="0">
            <a:spAutoFit/>
          </a:bodyPr>
          <a:lstStyle/>
          <a:p>
            <a:r>
              <a:rPr lang="en-IN" dirty="0"/>
              <a:t>This graph shows how the </a:t>
            </a:r>
            <a:r>
              <a:rPr lang="en-IN" b="1" dirty="0"/>
              <a:t>agricultural yield is distributed</a:t>
            </a:r>
            <a:r>
              <a:rPr lang="en-IN" dirty="0"/>
              <a:t> in the dataset. Most farms have a </a:t>
            </a:r>
            <a:r>
              <a:rPr lang="en-IN" b="1" dirty="0"/>
              <a:t>low yield, mainly concentrated between 0 and 5 tonnes per hectare</a:t>
            </a:r>
            <a:r>
              <a:rPr lang="en-IN" dirty="0"/>
              <a:t>. As the yield increases, the number of farms decreases sharply. There are also a few farms with </a:t>
            </a:r>
            <a:r>
              <a:rPr lang="en-IN" b="1" dirty="0"/>
              <a:t>very high yields</a:t>
            </a:r>
            <a:r>
              <a:rPr lang="en-IN" dirty="0"/>
              <a:t>, reaching around 100 tonnes/ha, which appear as unusual values or outliers.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2D103C36-BC9C-30CD-FC7D-E0CC35BE9C57}"/>
              </a:ext>
            </a:extLst>
          </p:cNvPr>
          <p:cNvSpPr/>
          <p:nvPr/>
        </p:nvSpPr>
        <p:spPr>
          <a:xfrm>
            <a:off x="767751" y="1492370"/>
            <a:ext cx="7366958" cy="270006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BE40215-7E24-976F-C762-DA8EBCEAAB12}"/>
              </a:ext>
            </a:extLst>
          </p:cNvPr>
          <p:cNvSpPr txBox="1"/>
          <p:nvPr/>
        </p:nvSpPr>
        <p:spPr>
          <a:xfrm>
            <a:off x="675957" y="4454887"/>
            <a:ext cx="6918385" cy="923330"/>
          </a:xfrm>
          <a:prstGeom prst="rect">
            <a:avLst/>
          </a:prstGeom>
          <a:noFill/>
        </p:spPr>
        <p:txBody>
          <a:bodyPr wrap="square" rtlCol="0">
            <a:spAutoFit/>
          </a:bodyPr>
          <a:lstStyle/>
          <a:p>
            <a:r>
              <a:rPr lang="en-IN" dirty="0"/>
              <a:t>The heatmap helps us understand which factors have a strong or weak connection with agricultural performance.</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3DB285B8-DBA0-2CCE-E472-3680F6327CEB}"/>
              </a:ext>
            </a:extLst>
          </p:cNvPr>
          <p:cNvSpPr/>
          <p:nvPr/>
        </p:nvSpPr>
        <p:spPr>
          <a:xfrm>
            <a:off x="940279" y="1362974"/>
            <a:ext cx="5805578" cy="224286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F0C227B-286F-7CAE-AFC8-5EFA5AEFCF63}"/>
              </a:ext>
            </a:extLst>
          </p:cNvPr>
          <p:cNvSpPr txBox="1"/>
          <p:nvPr/>
        </p:nvSpPr>
        <p:spPr>
          <a:xfrm>
            <a:off x="940279" y="4067664"/>
            <a:ext cx="7720642" cy="923330"/>
          </a:xfrm>
          <a:prstGeom prst="rect">
            <a:avLst/>
          </a:prstGeom>
          <a:noFill/>
        </p:spPr>
        <p:txBody>
          <a:bodyPr wrap="square" rtlCol="0">
            <a:spAutoFit/>
          </a:bodyPr>
          <a:lstStyle/>
          <a:p>
            <a:r>
              <a:rPr lang="en-IN" dirty="0"/>
              <a:t>The graph shows that Kharif season has the highest average profit, followed by Rabi season. Zaid season has a negative average profit, meaning farmers generally face a loss during this season.</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0DDF75C7-20E7-EE73-07F3-67BD200DE57B}"/>
              </a:ext>
            </a:extLst>
          </p:cNvPr>
          <p:cNvSpPr/>
          <p:nvPr/>
        </p:nvSpPr>
        <p:spPr>
          <a:xfrm>
            <a:off x="1164566" y="1708030"/>
            <a:ext cx="6797615" cy="213935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9012433-973F-0927-5BDE-071CC71AF16A}"/>
              </a:ext>
            </a:extLst>
          </p:cNvPr>
          <p:cNvSpPr txBox="1"/>
          <p:nvPr/>
        </p:nvSpPr>
        <p:spPr>
          <a:xfrm>
            <a:off x="1164566" y="4280040"/>
            <a:ext cx="6797614" cy="923330"/>
          </a:xfrm>
          <a:prstGeom prst="rect">
            <a:avLst/>
          </a:prstGeom>
          <a:noFill/>
        </p:spPr>
        <p:txBody>
          <a:bodyPr wrap="square" rtlCol="0">
            <a:spAutoFit/>
          </a:bodyPr>
          <a:lstStyle/>
          <a:p>
            <a:r>
              <a:rPr lang="en-IN" dirty="0"/>
              <a:t>The graph shows that Kharif has the highest number of agricultural records, followed by Rabi. Zaid has the fewest records compared to the other two seasons.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2422640F-10DE-1F4E-67F3-2611A2CCC791}"/>
              </a:ext>
            </a:extLst>
          </p:cNvPr>
          <p:cNvSpPr/>
          <p:nvPr/>
        </p:nvSpPr>
        <p:spPr>
          <a:xfrm>
            <a:off x="675956" y="1535502"/>
            <a:ext cx="7139575" cy="273457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0A6D203-CE7E-173A-B687-D6FC833A67EC}"/>
              </a:ext>
            </a:extLst>
          </p:cNvPr>
          <p:cNvSpPr txBox="1"/>
          <p:nvPr/>
        </p:nvSpPr>
        <p:spPr>
          <a:xfrm>
            <a:off x="612474" y="4722333"/>
            <a:ext cx="7203057" cy="1200329"/>
          </a:xfrm>
          <a:prstGeom prst="rect">
            <a:avLst/>
          </a:prstGeom>
          <a:noFill/>
        </p:spPr>
        <p:txBody>
          <a:bodyPr wrap="square" rtlCol="0">
            <a:spAutoFit/>
          </a:bodyPr>
          <a:lstStyle/>
          <a:p>
            <a:r>
              <a:rPr lang="en-IN" dirty="0"/>
              <a:t>The graph shows that most agricultural yields are low, mainly between 0 and 5 tonnes per hectare. As the yield increases, the number of records decreases, with only a few records showing very high yields.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10516" y="1547772"/>
            <a:ext cx="5406958" cy="3762455"/>
          </a:xfrm>
          <a:prstGeom prst="rect">
            <a:avLst/>
          </a:prstGeom>
        </p:spPr>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l">
              <a:buFont typeface="Arial" panose="020B0604020202020204" pitchFamily="34" charset="0"/>
              <a:buChar char="•"/>
            </a:pPr>
            <a:r>
              <a:rPr lang="en-IN" sz="2000" dirty="0"/>
              <a:t>Add real-time agricultural data for better analysis. </a:t>
            </a:r>
          </a:p>
          <a:p>
            <a:pPr marL="342900" lvl="0" indent="-342900" algn="l">
              <a:buFont typeface="Arial" panose="020B0604020202020204" pitchFamily="34" charset="0"/>
              <a:buChar char="•"/>
            </a:pPr>
            <a:r>
              <a:rPr lang="en-IN" sz="2000" dirty="0"/>
              <a:t>Use machine learning to predict crop yield and profit. </a:t>
            </a:r>
          </a:p>
          <a:p>
            <a:pPr marL="342900" lvl="0" indent="-342900" algn="l">
              <a:buFont typeface="Arial" panose="020B0604020202020204" pitchFamily="34" charset="0"/>
              <a:buChar char="•"/>
            </a:pPr>
            <a:r>
              <a:rPr lang="en-IN" sz="2000" dirty="0"/>
              <a:t>Develop crop recommendation based on seasonal conditions. </a:t>
            </a:r>
          </a:p>
          <a:p>
            <a:pPr marL="342900" lvl="0" indent="-342900" algn="l">
              <a:buFont typeface="Arial" panose="020B0604020202020204" pitchFamily="34" charset="0"/>
              <a:buChar char="•"/>
            </a:pPr>
            <a:r>
              <a:rPr lang="en-IN" sz="2000" dirty="0"/>
              <a:t>Add weather forecasting for better farming decisions. </a:t>
            </a:r>
          </a:p>
          <a:p>
            <a:pPr marL="342900" lvl="0" indent="-342900" algn="l">
              <a:buFont typeface="Arial" panose="020B0604020202020204" pitchFamily="34" charset="0"/>
              <a:buChar char="•"/>
            </a:pPr>
            <a:r>
              <a:rPr lang="en-IN" sz="2000" dirty="0"/>
              <a:t>Include more regions, crops, and seasons for wider analysis. </a:t>
            </a:r>
          </a:p>
          <a:p>
            <a:pPr marL="342900" lvl="0" indent="-342900" algn="l">
              <a:buFont typeface="Arial" panose="020B0604020202020204" pitchFamily="34" charset="0"/>
              <a:buChar char="•"/>
            </a:pPr>
            <a:r>
              <a:rPr lang="en-IN" sz="2000" dirty="0"/>
              <a:t>Develop an interactive dashboard for farmers and agricultural planners.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497325"/>
            <a:ext cx="7232875" cy="646331"/>
          </a:xfrm>
          <a:prstGeom prst="rect">
            <a:avLst/>
          </a:prstGeom>
          <a:noFill/>
        </p:spPr>
        <p:txBody>
          <a:bodyPr wrap="square">
            <a:spAutoFit/>
          </a:bodyPr>
          <a:lstStyle/>
          <a:p>
            <a:r>
              <a:rPr lang="en-US" dirty="0"/>
              <a:t>https://github.com/subrata131/Seasonal-Agriculture-Performance-Analysis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E8F5EDAF-D892-DDD8-5D28-54C0208D069E}"/>
              </a:ext>
            </a:extLst>
          </p:cNvPr>
          <p:cNvSpPr/>
          <p:nvPr/>
        </p:nvSpPr>
        <p:spPr>
          <a:xfrm>
            <a:off x="802257" y="1768415"/>
            <a:ext cx="7168551" cy="4718996"/>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303268" y="2320366"/>
            <a:ext cx="7357163" cy="110863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1462</TotalTime>
  <Words>600</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PowerPoint Presentation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Subrata Das</cp:lastModifiedBy>
  <cp:revision>99</cp:revision>
  <dcterms:created xsi:type="dcterms:W3CDTF">2021-07-11T13:13:15Z</dcterms:created>
  <dcterms:modified xsi:type="dcterms:W3CDTF">2026-09-04T17:46:52Z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